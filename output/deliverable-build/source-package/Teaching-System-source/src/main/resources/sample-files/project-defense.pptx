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1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8" r:id="rId4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首先，请允许我再次欢迎各位同学的到来。非常理解大家平时学业繁忙，所以今天的分享我们力求做到信息密集、节奏紧凑，希望能在有限的时间里，给大家带来最大的收获。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宣讲将分为六个部分。首先，我们会通过一个简短的开场，了解大家的困惑。接着，快速回顾挑战杯的基础知识。然后，我们将重点介绍大家最关心的资源福利、组队策略和参赛利弊。最后，我们会以一段激励人心的结语结束今天的分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在开始之前，我想先问大家几个问题。这些是不是你曾经有过的困惑？“挑战杯”听起来很高大上，感觉遥不可及？自己是小白，担心没有经验？规则太复杂，不知从何下手？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大家放心，今天的宣讲就是为了解答这些问题，我们的目标很明确：第一，带大家了解这个国A赛事的底层逻辑；第二，把复杂的规则掰开揉碎讲清楚；第三，最终帮助大家实现从“听说过”到“敢上手”的跨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好，让我们正式进入第一部分。在深入细节之前，我们先快速回顾一下挑战杯的基础知识，帮助大家建立一个整体的认知框架。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挑战杯自1989年诞生以来，已经走过了三十多个年头。它不仅仅是一个比赛，更是中国大学生科技创新的摇篮，被誉为学术科技界的“奥林匹克”，是国内公认的含金量最高的国A级赛事之一。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挑战杯提供了丰富的赛道选择。无论你是擅长理论研究的学霸，还是动手能力强的极客，或是富有社会洞察力的文科生，甚至是AI爱好者，都能找到适合自己的舞台。特别是“人工智能+”赛道，极大地降低了参与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了解比赛的时间节奏至关重要。通常来说，每年3月是省赛的申报时间，4月评选，6月进行国赛申报。请大家务必记住这些关键节点，并随时关注官方网站的最新通知。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接下来，我们进入大家最关心的部分——核心福利。参加挑战杯，你绝对不是一个人在战斗，学校和主办方会提供强大的资源支持。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很多同学可能会担心项目经费问题。在这里我可以明确告诉大家，学校和主办方已经为大家考虑到了。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接下来，我将从算力、经费和奖金三个方面，为大家详细介绍这些支持政策。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首先是算力支持，我们提供了高性能的云端GPU集群，确保大家在进行模型训练和数据运算时不会受限于硬件性能。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其次是经费保障，这也是大家最关心的。我们设立了专项基金，覆盖了从硬件采购、实地调研到差旅交通的所有合理开支，彻底解决大家的后顾之忧。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最后是奖金激励，对于在比赛中表现优异的团队，我们准备了丰厚的现金奖励和荣誉证书，以表彰大家的创新成果。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有了这些强大的后盾支持，希望大家能放手去想，大胆去做，将最好的创意变为现实。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对于参加“人工智能+”赛道的同学来说，算力就是燃料。好消息是，学校联合了云平台，为每位参赛学生提供300元的免费算力资源，并且后续使用还能享受五折优惠，这将极大地降低AI项目的研发成本。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算力，学校还提供了非常给力的阶梯式经费支持。从项目启动的1000元培育金，到入围省赛决赛的1万元，再到冲击国赛的5万元，学校会在每个关键阶段为大家保驾护航。这充分体现了学校对大家科创热情的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付出就有回报。除了经费支持，丰厚的奖金也是对大家努力的最高肯定。省级三等奖就有2000元，特等奖更是高达1万元。如果能进入国赛，奖金会更加可观，从1万到5万不等。这不仅是荣誉，也是实实在在的激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有了资源支持，接下来我们谈谈如何组建一支强大的团队。一个好的团队是成功的一半。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理想的队友是什么样的呢？一个功能互补的团队至关重要。你需要技术大牛来实现想法，需要文档达人来整理材料，需要设计高手来包装项目，还需要沟通能手来展示成果。但最重要的是，大家必须志同道合，愿意一起为了同一个目标而奋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了解了这么多，相信大家已经跃跃欲试了。但在做出决定之前，我们需要理性地分析一下参赛的利弊，做出最适合自己的选择。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参加挑战杯的好处是显而易见的。首先，它的认可度极高，是简历上的一大亮点。其次，赛道全面，无论你是什么专业，都能找到发挥的空间。更重要的是，它强调实践应用，能让你真正解决问题，并打破学科壁垒，接触前沿科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当然，我们也要正视挑战。挑战杯的备赛过程非常耗时，可能需要投入大量的课余时间。同时，竞争异常激烈，付出不一定能立刻看到回报。大家需要权衡好时间和精力，避免影响学业和其他发展机会。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我想说，挑战杯真正的价值，往往超越了奖杯本身。在这个过程中，你学到的知识、积累的实战经验、接触到的前沿问题，都是课堂无法给予的宝贵财富。所以，在决定参赛前，请先明确你的目标，这样才能最大化比赛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最后，让我们一起进入今天分享的尾声。希望接下来的内容能给大家带来一些启发。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我想送给大家一句话：挑战杯的重点，不是那个奖杯，而是你敢于挑战的勇气。就像写代码一样，再复杂的程序，也是从按下Enter键开始的。不要害怕困难，动手去做，你会发现一切都没那么难。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参加挑战杯，也是一个提前做功课的过程。这个过程中积累的知识和经验，会内化为你面对未来挑战时的底气。这份底气，比任何奖项都更加珍贵。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所以，我鼓励每一位同学，无论你的初衷是什么，都去试一试。在这个过程中，你会发现自己的潜力，完成一次对自我的重构。你会发现，原来很多你以为不可能的事情，其实都可以做到。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我的分享到此结束，感谢大家的聆听。祝愿每一位同学都能在创新的道路上，跑通属于自己的那段精彩逻辑。接下来是问答环节，大家有什么问题可以随时提出。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45.xml"/><Relationship Id="rId22" Type="http://schemas.openxmlformats.org/officeDocument/2006/relationships/tags" Target="../tags/tag44.xml"/><Relationship Id="rId21" Type="http://schemas.openxmlformats.org/officeDocument/2006/relationships/image" Target="../media/image25.svg"/><Relationship Id="rId20" Type="http://schemas.openxmlformats.org/officeDocument/2006/relationships/image" Target="../media/image24.png"/><Relationship Id="rId2" Type="http://schemas.openxmlformats.org/officeDocument/2006/relationships/image" Target="../media/image19.jpeg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tags" Target="../tags/tag47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31.svg"/><Relationship Id="rId23" Type="http://schemas.openxmlformats.org/officeDocument/2006/relationships/image" Target="../media/image30.png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6.xml"/><Relationship Id="rId19" Type="http://schemas.openxmlformats.org/officeDocument/2006/relationships/image" Target="../media/image29.svg"/><Relationship Id="rId18" Type="http://schemas.openxmlformats.org/officeDocument/2006/relationships/image" Target="../media/image28.png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5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tags" Target="../tags/tag62.xml"/><Relationship Id="rId28" Type="http://schemas.openxmlformats.org/officeDocument/2006/relationships/notesSlide" Target="../notesSlides/notesSlide10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25.svg"/><Relationship Id="rId25" Type="http://schemas.openxmlformats.org/officeDocument/2006/relationships/image" Target="../media/image44.png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tags" Target="../tags/tag73.xml"/><Relationship Id="rId21" Type="http://schemas.openxmlformats.org/officeDocument/2006/relationships/image" Target="../media/image43.svg"/><Relationship Id="rId20" Type="http://schemas.openxmlformats.org/officeDocument/2006/relationships/image" Target="../media/image42.png"/><Relationship Id="rId2" Type="http://schemas.openxmlformats.org/officeDocument/2006/relationships/tags" Target="../tags/tag61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image" Target="../media/image41.svg"/><Relationship Id="rId13" Type="http://schemas.openxmlformats.org/officeDocument/2006/relationships/image" Target="../media/image40.png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image" Target="../media/image14.sv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62.png"/><Relationship Id="rId7" Type="http://schemas.openxmlformats.org/officeDocument/2006/relationships/image" Target="../media/image61.svg"/><Relationship Id="rId6" Type="http://schemas.openxmlformats.org/officeDocument/2006/relationships/image" Target="../media/image60.png"/><Relationship Id="rId5" Type="http://schemas.openxmlformats.org/officeDocument/2006/relationships/image" Target="../media/image21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4.svg"/><Relationship Id="rId10" Type="http://schemas.openxmlformats.org/officeDocument/2006/relationships/image" Target="../media/image63.pn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14.svg"/><Relationship Id="rId3" Type="http://schemas.openxmlformats.org/officeDocument/2006/relationships/image" Target="../media/image49.png"/><Relationship Id="rId2" Type="http://schemas.openxmlformats.org/officeDocument/2006/relationships/image" Target="../media/image65.jpe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1.sv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5.svg"/><Relationship Id="rId6" Type="http://schemas.openxmlformats.org/officeDocument/2006/relationships/image" Target="../media/image74.png"/><Relationship Id="rId5" Type="http://schemas.openxmlformats.org/officeDocument/2006/relationships/image" Target="../media/image14.svg"/><Relationship Id="rId4" Type="http://schemas.openxmlformats.org/officeDocument/2006/relationships/image" Target="../media/image49.png"/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78.png"/><Relationship Id="rId7" Type="http://schemas.openxmlformats.org/officeDocument/2006/relationships/image" Target="../media/image25.svg"/><Relationship Id="rId6" Type="http://schemas.openxmlformats.org/officeDocument/2006/relationships/image" Target="../media/image44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77.svg"/><Relationship Id="rId2" Type="http://schemas.openxmlformats.org/officeDocument/2006/relationships/image" Target="../media/image76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80.svg"/><Relationship Id="rId2" Type="http://schemas.openxmlformats.org/officeDocument/2006/relationships/image" Target="../media/image79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openxmlformats.org/officeDocument/2006/relationships/image" Target="../media/image29.svg"/><Relationship Id="rId2" Type="http://schemas.openxmlformats.org/officeDocument/2006/relationships/image" Target="../media/image83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397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571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bg1">
                    <a:lumMod val="9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从入门到看懂规则</a:t>
            </a:r>
            <a:endParaRPr lang="en-US" sz="3600" b="1" i="0" u="none" strike="noStrike">
              <a:solidFill>
                <a:schemeClr val="bg1">
                  <a:lumMod val="9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NO.2 主题宣讲会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本次宣讲内容概览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1651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803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21590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开场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2159000" y="2159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100"/>
              <a:t>对，</a:t>
            </a:r>
            <a:r>
              <a:rPr lang="zh-CN" altLang="en-US" sz="1100"/>
              <a:t>开场就是开场，请无视</a:t>
            </a:r>
            <a:r>
              <a:rPr lang="zh-CN" altLang="en-US" sz="1100"/>
              <a:t>我</a:t>
            </a:r>
            <a:endParaRPr lang="zh-CN" altLang="en-US" sz="1100"/>
          </a:p>
          <a:p>
            <a:pPr indent="0" algn="l">
              <a:lnSpc>
                <a:spcPct val="108000"/>
              </a:lnSpc>
              <a:defRPr/>
            </a:pPr>
            <a:endParaRPr lang="zh-CN" alt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3302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3454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2159000" y="3302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上期回顾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2159000" y="3810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重温挑战杯基础认知框架：赛事历史、核心赛道与关键时间节点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762000" y="4699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1016000" y="4953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1016000" y="5105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2159000" y="4953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资助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</a:t>
            </a:r>
            <a:endParaRPr lang="zh-CN" alt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2159000" y="5461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揭秘全方位资源支持体系：包括算力支持、专项经费与丰厚奖金池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6350000" y="1397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604000" y="1651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6604000" y="1803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77470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组队策略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7747000" y="2159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打造参赛梦之队：学会主动出击，高效寻找合拍队友与互补伙伴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6350000" y="3048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6604000" y="3302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4"/>
            </p:custDataLst>
          </p:nvPr>
        </p:nvSpPr>
        <p:spPr>
          <a:xfrm>
            <a:off x="6604000" y="3454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5"/>
            </p:custDataLst>
          </p:nvPr>
        </p:nvSpPr>
        <p:spPr>
          <a:xfrm>
            <a:off x="7747000" y="3302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否？</a:t>
            </a:r>
            <a:endParaRPr lang="zh-CN" alt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6"/>
            </p:custDataLst>
          </p:nvPr>
        </p:nvSpPr>
        <p:spPr>
          <a:xfrm>
            <a:off x="7747000" y="3810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参赛利弊深度权衡：帮助大家认清赛事价值，做好准备直面挑战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27"/>
            </p:custDataLst>
          </p:nvPr>
        </p:nvSpPr>
        <p:spPr>
          <a:xfrm>
            <a:off x="6350000" y="4699000"/>
            <a:ext cx="508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28"/>
            </p:custDataLst>
          </p:nvPr>
        </p:nvSpPr>
        <p:spPr>
          <a:xfrm>
            <a:off x="6604000" y="49530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29"/>
            </p:custDataLst>
          </p:nvPr>
        </p:nvSpPr>
        <p:spPr>
          <a:xfrm>
            <a:off x="6604000" y="5105400"/>
            <a:ext cx="88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30"/>
            </p:custDataLst>
          </p:nvPr>
        </p:nvSpPr>
        <p:spPr>
          <a:xfrm>
            <a:off x="7747000" y="4953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结语与行动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31"/>
            </p:custDataLst>
          </p:nvPr>
        </p:nvSpPr>
        <p:spPr>
          <a:xfrm>
            <a:off x="7747000" y="5461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比赛重在“挑战”过程：在实践中重构自我，迈出关键的第一步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你是否也有这些疑问？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676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赛事认知盲区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“挑战杯”到底是什么比赛？听起来好厉害，我能参加吗？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651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97500" y="1676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经验信心不足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我完全没有经验，是不是根本没有机会？如何迈出第一步？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651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80500" y="16764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流程规则迷茫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比赛规则太复杂，项目怎么选？核心流程具体怎么走？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10668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别担心！本次宣讲的目的，就是帮助大家：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572000"/>
            <a:ext cx="3175000" cy="1143000"/>
          </a:xfrm>
          <a:prstGeom prst="roundRect">
            <a:avLst>
              <a:gd name="adj" fmla="val 13333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4826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905000" y="476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了解底层逻辑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905000" y="5143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读懂国A赛事的核心价值与底层运行逻辑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08500" y="4572000"/>
            <a:ext cx="3175000" cy="1143000"/>
          </a:xfrm>
          <a:prstGeom prst="roundRect">
            <a:avLst>
              <a:gd name="adj" fmla="val 13333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4826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397500" y="476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看懂核心规则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397500" y="5143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将复杂的赛制掰开揉碎，让规则清晰易懂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4572000"/>
            <a:ext cx="3175000" cy="1143000"/>
          </a:xfrm>
          <a:prstGeom prst="roundRect">
            <a:avLst>
              <a:gd name="adj" fmla="val 13333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826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890000" y="47625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实现进阶跨越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0000" y="5143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完成从“听说过”到“敢上手”的能力蜕变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上期回顾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挑战杯基础认知框架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挑战杯：历史与地位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572000" cy="4953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9529" r="19529"/>
          <a:stretch>
            <a:fillRect/>
          </a:stretch>
        </p:blipFill>
        <p:spPr>
          <a:xfrm>
            <a:off x="1016000" y="1651000"/>
            <a:ext cx="4064000" cy="4445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5588000" y="1397000"/>
            <a:ext cx="5842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1651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350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历史沿革 · 三十余载科创路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2286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1989年：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赛事正式诞生，开启探索之旅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1991年：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确立“挑战杯”正式名称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509000" y="2286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20世纪初：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转型为产学结合的创新试验田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发展至今：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见证一代代青年科创梦想的绽放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588000" y="4000500"/>
            <a:ext cx="5842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425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350000" y="425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赛事地位 · 科创领域的标杆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49530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FFF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69000" y="5029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被誉为中国大学生学术科技界的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“奥林匹克”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42000" y="55880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FFF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969000" y="5664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国内极具分量的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国A级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科创赛事，兼具学术含金量与社会影响力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三大赛道，多元选择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1089" r="21089"/>
          <a:stretch>
            <a:fillRect/>
          </a:stretch>
        </p:blipFill>
        <p:spPr>
          <a:xfrm>
            <a:off x="762000" y="1397000"/>
            <a:ext cx="3810000" cy="4953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4826000" y="1397000"/>
            <a:ext cx="6604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5080000" y="1651000"/>
            <a:ext cx="711200" cy="7112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7800" y="18288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5969000" y="1587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主赛道 / MAIN TRACK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5969000" y="2032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自然科学学术论文：适合理科、工科背景同学。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社科调查报告：适合人文、社科、经管类同学。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科技发明制作：适合动手能力强，有硬件开发经验的同学。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826000" y="3175000"/>
            <a:ext cx="6604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5080000" y="3429000"/>
            <a:ext cx="711200" cy="7112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57800" y="3606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969000" y="3365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“</a:t>
            </a:r>
            <a:r>
              <a:rPr 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揭榜挂帅</a:t>
            </a: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”擂台赛 / CHALLENGE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5969000" y="3810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核心模式：企业出题，学生解题，实现产学研深度融合。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核心重点：聚焦解决企业真实痛点，强调技术的实际应用价值。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826000" y="4953000"/>
            <a:ext cx="660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5080000" y="5207000"/>
            <a:ext cx="711200" cy="7112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57800" y="53848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5969000" y="5143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“人工智能+”专项赛 / AI TRACK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5969000" y="5588000"/>
            <a:ext cx="520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创意赛(零/低代码) | 应用赛(各类AI资产) | 挑战赛(AI领域延伸)</a:t>
            </a:r>
            <a:b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以Agent为载体，极大降低了AI技术的参赛门槛。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比赛节奏与时间轴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1714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905000" y="171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03月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79500" y="2540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作品申报启动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79500" y="3048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整理材料，完成初次提交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00" y="1714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588000" y="171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04月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762500" y="2540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省赛激烈评选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762500" y="3048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现场答辩，角逐晋级名额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128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45500" y="1714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9271000" y="17145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06月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445500" y="2540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国赛申报筹备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445500" y="3048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打磨作品，冲刺国赛大奖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683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79500" y="4000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841500" y="3873500"/>
            <a:ext cx="927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国赛动态时间（不固定）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841500" y="4318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请密切关注官方最新通知：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2027.tiaozhanbei.net</a:t>
            </a: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（当前状态：待开放）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8C00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无论你是代码狂人、实验室达人，还是社会观察者，只要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有创意、愿动手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挑战杯就是你的舞台</a:t>
            </a:r>
            <a:r>
              <a:rPr lang="en-US" sz="13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资助政策</a:t>
            </a: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：全方位资源支持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953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FUNDING </a:t>
            </a:r>
            <a:r>
              <a:rPr lang="en-US" sz="16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&amp; RESOURCES SUPPORT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强大的后盾：主办方与学校的支持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担心做硬件、去调研的项目经费不足？或者算力资源不够用？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别担心，全方位的资源支持已经就位！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3175000"/>
            <a:ext cx="863600" cy="863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419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高性能算力支持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4762500"/>
            <a:ext cx="2286000" cy="25400"/>
          </a:xfrm>
          <a:prstGeom prst="roundRect">
            <a:avLst>
              <a:gd name="adj" fmla="val 0"/>
            </a:avLst>
          </a:prstGeom>
          <a:solidFill>
            <a:srgbClr val="FF8C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5016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提供云端GPU集群与本地服务器资源，满足大规模模型训练与复杂数据运算需求。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794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3175000"/>
            <a:ext cx="863600" cy="863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99000" y="419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专项经费全额保障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0" y="4762500"/>
            <a:ext cx="2286000" cy="25400"/>
          </a:xfrm>
          <a:prstGeom prst="roundRect">
            <a:avLst>
              <a:gd name="adj" fmla="val 0"/>
            </a:avLst>
          </a:prstGeom>
          <a:solidFill>
            <a:srgbClr val="FF8C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699000" y="5016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覆盖硬件采购、实地调研、差旅交通等所有项目开支，让创意落地无后顾之忧。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2794000"/>
            <a:ext cx="3302000" cy="3048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7200" y="3175000"/>
            <a:ext cx="863600" cy="863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382000" y="419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丰厚的奖金激励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636000" y="4762500"/>
            <a:ext cx="2286000" cy="25400"/>
          </a:xfrm>
          <a:prstGeom prst="roundRect">
            <a:avLst>
              <a:gd name="adj" fmla="val 0"/>
            </a:avLst>
          </a:prstGeom>
          <a:solidFill>
            <a:srgbClr val="FF8C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50165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设立一二三等奖及优秀奖，对优秀团队和创新项目给予现金奖励与荣誉证书表彰。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云端AI算力服务：AI项目的“燃料”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270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524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1778000" y="1460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面向核心赛道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重点支持“人工智能+”技术创新专项赛参赛团队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3000" y="1524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10"/>
            </p:custDataLst>
          </p:nvPr>
        </p:nvSpPr>
        <p:spPr>
          <a:xfrm>
            <a:off x="6985000" y="146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算力支持平台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联合某某云等主流云厂商提供高性能算力集群支持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1"/>
            </p:custDataLst>
          </p:nvPr>
        </p:nvSpPr>
        <p:spPr>
          <a:xfrm>
            <a:off x="762000" y="2667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3000" y="3048000"/>
            <a:ext cx="889000" cy="889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5"/>
            </p:custDataLst>
          </p:nvPr>
        </p:nvSpPr>
        <p:spPr>
          <a:xfrm>
            <a:off x="2413000" y="298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参赛启动算力包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6"/>
            </p:custDataLst>
          </p:nvPr>
        </p:nvSpPr>
        <p:spPr>
          <a:xfrm>
            <a:off x="2413000" y="342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¥300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人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7"/>
            </p:custDataLst>
          </p:nvPr>
        </p:nvSpPr>
        <p:spPr>
          <a:xfrm>
            <a:off x="2413000" y="4064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每位注册学生直接领取，即刻开通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8"/>
            </p:custDataLst>
          </p:nvPr>
        </p:nvSpPr>
        <p:spPr>
          <a:xfrm>
            <a:off x="6223000" y="2667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04000" y="3048000"/>
            <a:ext cx="889000" cy="8890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22"/>
            </p:custDataLst>
          </p:nvPr>
        </p:nvSpPr>
        <p:spPr>
          <a:xfrm>
            <a:off x="7874000" y="298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进阶算力折扣券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3"/>
            </p:custDataLst>
          </p:nvPr>
        </p:nvSpPr>
        <p:spPr>
          <a:xfrm>
            <a:off x="7874000" y="3429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5折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长期订阅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4"/>
            </p:custDataLst>
          </p:nvPr>
        </p:nvSpPr>
        <p:spPr>
          <a:xfrm>
            <a:off x="7874000" y="40640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项目中期扩容、持续训练享半价优惠支持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43000" y="5270500"/>
            <a:ext cx="6350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032000" y="5207000"/>
            <a:ext cx="889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专项用途说明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32000" y="5651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仅限用于参赛期间的课题研究、深度学习模型训练、算法迭代优化、赛题方案创作及项目原型研发，严禁用于非竞赛相关的商业用途。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经费保障：从启动到国赛，全程资金护航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01 · 省赛培育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41500" y="21590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¥1,000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完成学校官方审核备案即可申领，作为项目初期启动与基础培育的专项资金。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651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02 · 入围省决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24500" y="21590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¥10,000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04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成功突围进入省级决赛阶段，学校额外提供专项助力资金，支持项目深化打磨。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1651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03 · 冲击国赛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207500" y="21590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¥50,000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成功晋级国赛决赛后，学校提供最高5万元强力资金支撑，全力保障赛事发挥。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14545"/>
            </a:avLst>
          </a:prstGeom>
          <a:solidFill>
            <a:srgbClr val="FFF8F0">
              <a:alpha val="9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16500"/>
            <a:ext cx="711200" cy="711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032000" y="4953000"/>
            <a:ext cx="203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赛后费用报销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191000" y="4978400"/>
            <a:ext cx="673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获奖项目在赛事期间产生的差旅、耗材、设备租赁等合理支出，学校将根据实际合规票据，按比例给予全额或部分费用报销，彻底解除参赛团队的后顾之忧。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奖金激励：为荣誉加冕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7230" r="27230"/>
          <a:stretch>
            <a:fillRect/>
          </a:stretch>
        </p:blipFill>
        <p:spPr>
          <a:xfrm>
            <a:off x="762000" y="1397000"/>
            <a:ext cx="3302000" cy="4826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318000" y="1524000"/>
            <a:ext cx="7112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318000" y="1524000"/>
            <a:ext cx="1016000" cy="2159000"/>
          </a:xfrm>
          <a:prstGeom prst="roundRect">
            <a:avLst>
              <a:gd name="adj" fmla="val 2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22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588000" y="1714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省级竞赛奖金 · 荣誉起步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2286000"/>
            <a:ext cx="2667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78500" y="2413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三等奖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基础荣誉激励</a:t>
            </a:r>
            <a:endParaRPr lang="en-US" sz="11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858000" y="24765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¥2,000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509000" y="2286000"/>
            <a:ext cx="2667000" cy="1016000"/>
          </a:xfrm>
          <a:prstGeom prst="roundRect">
            <a:avLst>
              <a:gd name="adj" fmla="val 1250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99500" y="2413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特等奖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省级最高荣誉</a:t>
            </a:r>
            <a:endParaRPr lang="en-US" sz="11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779000" y="24765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¥10,000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3937000"/>
            <a:ext cx="7112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18000" y="3937000"/>
            <a:ext cx="1016000" cy="2159000"/>
          </a:xfrm>
          <a:prstGeom prst="roundRect">
            <a:avLst>
              <a:gd name="adj" fmla="val 2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4635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588000" y="41275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国赛阶段奖金 · 高额冲刺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88000" y="4699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晋级国赛奖金额度大幅跃升，根据项目成绩阶梯发放：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88000" y="52070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¥10,000 — ¥50,000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项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组队策略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69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打造你的梦之队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35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寻找你的“最佳拍档”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1016000" cy="1016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171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技术担当 · Tech Lead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2222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代码逻辑清晰，能高效实现项目核心功能，是团队坚实的技术基石。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714500"/>
            <a:ext cx="1016000" cy="1016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196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747000" y="1714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文档达人 · Doc Master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747000" y="2222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善于整理繁杂材料，撰写规范的项目报告与申报书，让项目成果有迹可循。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30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619500"/>
            <a:ext cx="1016000" cy="1016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3873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286000" y="3619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设计高手 · Designer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286000" y="4127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审美在线，能产出高水准的PPT演示文稿和产品原型，提升项目的视觉表现力。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302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3619500"/>
            <a:ext cx="1016000" cy="1016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3873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747000" y="3619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沟通桥梁 · Communicator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747000" y="4127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表达能力强，能在答辩与汇报中清晰阐述项目逻辑与价值，连接团队与外界。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70500"/>
            <a:ext cx="10668000" cy="1016000"/>
          </a:xfrm>
          <a:prstGeom prst="roundRect">
            <a:avLst>
              <a:gd name="adj" fmla="val 2000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524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905000" y="5461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核心要素：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所有特质的基础是“志同道合”，团队成员愿意为了共同的目标，投入时间与精力并肩作战。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DECISION ANALYSIS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理性决策：参赛利弊权衡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挑战杯的核心价值：为什么值得参加？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4136" r="24136"/>
          <a:stretch>
            <a:fillRect/>
          </a:stretch>
        </p:blipFill>
        <p:spPr>
          <a:xfrm>
            <a:off x="762000" y="1397000"/>
            <a:ext cx="4572000" cy="4826000"/>
          </a:xfrm>
          <a:prstGeom prst="roundRect">
            <a:avLst>
              <a:gd name="adj" fmla="val 444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588000" y="1397000"/>
            <a:ext cx="5842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842000" y="1587500"/>
            <a:ext cx="762000" cy="762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177800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858000" y="1587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极高认可度 · 顶级科创竞赛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203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国内含金量极高的科创赛事，其荣誉背书远超普通校园竞赛，是个人简历上的核心亮点。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2730500"/>
            <a:ext cx="5842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842000" y="2921000"/>
            <a:ext cx="762000" cy="762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3111500"/>
            <a:ext cx="381000" cy="381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2921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赛道全覆盖 · 兼容多元学科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3365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覆盖文、理、工、商、医等全学科领域，无论你是哪个专业的学生，都能找到适合发挥的赛道。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588000" y="4064000"/>
            <a:ext cx="5842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842000" y="4254500"/>
            <a:ext cx="762000" cy="762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500" y="44450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254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聚焦实践 · 解决现实问题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0" y="4699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通过擂台赛形式引导学生直面社会痛点，拒绝纸上谈兵，致力于提出切实可行的落地解决方案。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88000" y="5397500"/>
            <a:ext cx="5842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842000" y="5588000"/>
            <a:ext cx="762000" cy="762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2500" y="57785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5588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跨界融合 · AI赋能创意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58000" y="6032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“人工智能+”创意赛鼓励非理工科同学参与，打破传统学科壁垒，用AI技术为各类创意项目赋能。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挑战与付出：你需要面对的挑战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78000" y="2032000"/>
            <a:ext cx="1270000" cy="1270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349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55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时间成本高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95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4572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备赛过程可能需要投入数年的课余时间，需要团队成员共同深耕与坚持。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461000" y="2032000"/>
            <a:ext cx="1270000" cy="1270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349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99000" y="355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竞争异常激烈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78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26000" y="4572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即便付出大量心血与努力，也可能因为对手太强而未能收获理想的名次。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2032000"/>
            <a:ext cx="1270000" cy="12700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3495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382000" y="355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不可忽视的机会成本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61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509000" y="4572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备赛期间可能会耗费大量时间与资金，需要慎重权衡，避免错失其他发展机会。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过程的收获，远超结果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965200" cy="9652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19177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177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学习能力提升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4130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系统鉴赏优秀科创作品，借鉴思路，显著提升论文撰写与报告制作的综合能力。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714500"/>
            <a:ext cx="965200" cy="9652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2200" y="19177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842000" y="177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实战经验积累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42000" y="24130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深入钻研代码逻辑与调试细节，在真实项目中获得课堂无法比拟的实战磨练机会。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2921000"/>
          </a:xfrm>
          <a:prstGeom prst="roundRect">
            <a:avLst>
              <a:gd name="adj" fmla="val 695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1714500"/>
            <a:ext cx="965200" cy="9652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5200" y="1917700"/>
            <a:ext cx="558800" cy="558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525000" y="1778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接触前沿问题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0" y="24130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直面国产OS运维、Loongarch架构优化等企业难题，积累宝贵的前沿工程经验。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14545"/>
            </a:avLst>
          </a:prstGeom>
          <a:solidFill>
            <a:srgbClr val="FF8C00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54600"/>
            <a:ext cx="685800" cy="685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032000" y="4953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E67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核心建议：明确目标，拒绝盲从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032000" y="5461000"/>
            <a:ext cx="901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参赛前请务必与团队明确核心目标，盲目跟风只会让比赛价值大打折扣。清晰的规划能帮助你在备赛过程中更有针对性地获取成长。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结语与行动号召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让我们携手开启数字化转型的新篇章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按下“挑战”的 Enter 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064000" cy="4318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397000" y="2286000"/>
            <a:ext cx="2794000" cy="2794000"/>
          </a:xfrm>
          <a:prstGeom prst="ellipse">
            <a:avLst/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921000"/>
            <a:ext cx="1397000" cy="1397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5207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200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ACTION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 spc="1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JUST PRESS THE ENTER KEY</a:t>
            </a:r>
            <a:endParaRPr lang="en-US" sz="1200" b="0" i="0" u="none" strike="noStrike" spc="100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0" y="1651000"/>
            <a:ext cx="6096000" cy="4318000"/>
          </a:xfrm>
          <a:prstGeom prst="roundRect">
            <a:avLst>
              <a:gd name="adj" fmla="val 588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461000" y="2159000"/>
            <a:ext cx="76200" cy="304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15000" y="2133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挑战的核心定义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61000" y="2667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挑战杯的重点，从来不是那个“杯”的物理重量，而是你是否敢于在“挑战”的按键上，按下 Enter 键。这是一次关于勇气的自我确认。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61000" y="3937000"/>
            <a:ext cx="5334000" cy="127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461000" y="4318000"/>
            <a:ext cx="76200" cy="304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715000" y="4292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行动带来的清晰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4826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所有复杂的逻辑，都是由一行行简单的指令堆砌而成。所有看似不可逾越的高山，在动手之后都会变得清晰。行动，是解决问题的唯一答案。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提前做功课，收获从容底气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914400" cy="9144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800" y="20828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2032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做功课的核心意义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342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“提前做功课”从来不是为了机械地应付提问，而是为了在未来的答辩现场或真实职场中，当你面对棘手难题与突发状况时，能够真正拥有一份“心中有数”的从容底气。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905000"/>
            <a:ext cx="914400" cy="914400"/>
          </a:xfrm>
          <a:prstGeom prst="ellipse">
            <a:avLst/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20828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20000" y="2032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底气的成长积淀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175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31000" y="3429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这份宝贵的底气，源于你曾为比赛在无数个深夜里查阅的资料、反复调试的Bug，以及那个熬了几个通宵、哪怕还不够完美的最终Demo。每一份积累，都是支撑你的基石。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去试一试，重构那个“不可能”的自己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300" y="2019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18415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出发的理由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2413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无论你是为了五育分，还是怀揣着改变世界的新奇点子，我们都发自内心地建议你：去试一试。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778000"/>
            <a:ext cx="889000" cy="889000"/>
          </a:xfrm>
          <a:prstGeom prst="roundRect">
            <a:avLst>
              <a:gd name="adj" fmla="val 17142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8300" y="2019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0" y="18415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重构的意义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24130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哪怕最后没有拿到奖杯，你也已经在这个充满挑战的过程中，成功重构了那个曾经觉得“这不可能”的自己。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10668000" cy="1778000"/>
          </a:xfrm>
          <a:prstGeom prst="roundRect">
            <a:avLst>
              <a:gd name="adj" fmla="val 11428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FF8C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原来，很多“不可能” 只是尚未开始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GO TRY IT · RESTRUCTURE YOURSELF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92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祝大家在创新的路上，都能跑通属于自己的那段逻辑。</a:t>
            </a:r>
            <a:endParaRPr lang="en-US" sz="1100"/>
          </a:p>
        </p:txBody>
      </p:sp>
      <p:sp>
        <p:nvSpPr>
          <p:cNvPr id="8" name="椭圆 7"/>
          <p:cNvSpPr/>
          <p:nvPr/>
        </p:nvSpPr>
        <p:spPr>
          <a:xfrm>
            <a:off x="5090160" y="5237480"/>
            <a:ext cx="137160" cy="100330"/>
          </a:xfrm>
          <a:prstGeom prst="ellipse">
            <a:avLst/>
          </a:prstGeom>
          <a:solidFill>
            <a:srgbClr val="63AE8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4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5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6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7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8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9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0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4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5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6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7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8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19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0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1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2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3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4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5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6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7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8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29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0.xml><?xml version="1.0" encoding="utf-8"?>
<p:tagLst xmlns:p="http://schemas.openxmlformats.org/presentationml/2006/main">
  <p:tag name="KSO_WM_DIAGRAM_VIRTUALLY_FRAME" val="{&quot;height&quot;:370,&quot;left&quot;:60,&quot;top&quot;:110,&quot;width&quot;:840}"/>
</p:tagLst>
</file>

<file path=ppt/tags/tag31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2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3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4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5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6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7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8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39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0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1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2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3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4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5.xml><?xml version="1.0" encoding="utf-8"?>
<p:tagLst xmlns:p="http://schemas.openxmlformats.org/presentationml/2006/main">
  <p:tag name="KSO_WM_DIAGRAM_VIRTUALLY_FRAME" val="{&quot;height&quot;:390,&quot;left&quot;:380,&quot;top&quot;:110,&quot;width&quot;:520}"/>
</p:tagLst>
</file>

<file path=ppt/tags/tag46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47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48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49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0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1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2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3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4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5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6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7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8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59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60.xml><?xml version="1.0" encoding="utf-8"?>
<p:tagLst xmlns:p="http://schemas.openxmlformats.org/presentationml/2006/main">
  <p:tag name="KSO_WM_DIAGRAM_VIRTUALLY_FRAME" val="{&quot;height&quot;:160,&quot;left&quot;:60,&quot;top&quot;:110,&quot;width&quot;:840}"/>
</p:tagLst>
</file>

<file path=ppt/tags/tag61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2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3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4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5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6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7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8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69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70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71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72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73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74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ags/tag75.xml><?xml version="1.0" encoding="utf-8"?>
<p:tagLst xmlns:p="http://schemas.openxmlformats.org/presentationml/2006/main">
  <p:tag name="KSO_WM_DIAGRAM_VIRTUALLY_FRAME" val="{&quot;height&quot;:260,&quot;left&quot;:60,&quot;top&quot;:10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3346</Words>
  <Application>WPS 演示</Application>
  <PresentationFormat/>
  <Paragraphs>358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望向天脉</cp:lastModifiedBy>
  <cp:revision>6</cp:revision>
  <dcterms:created xsi:type="dcterms:W3CDTF">2026-04-16T14:42:32Z</dcterms:created>
  <dcterms:modified xsi:type="dcterms:W3CDTF">2026-04-16T14:59:10Z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4F4799527ECF41A1A8C4BF41A7EACACB_13</vt:lpwstr>
  </property>
</Properties>
</file>